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RiskPulse is a risk engine for a bank's risk desk. It reads news and social text as it arrives, scores every item for sentiment, event type and impact, and feeds two applications: Module A, an index rebalancer, and Module B, an event-driven stress test. Everything you will see runs on a laptop, offline, on public or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my words: the problem is not access to news, it is triage. A risk team cannot read and score everything, and periodic stress tests use the same shock whatever happened. RiskPulse reads, scores and acts, in one pipeline, with every score explainable.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flows left to right. Connectors produce RawDocuments; the normaliser cleans and clusters them into stories; the NLP stages link entities and score sentiment, event and impact. The output is a versioned RiskSignal published on a bus and written to JSONL, SQLite and a FastAPI REST and SSE API. The modules only know the schema, so they could run in another process or on another machine.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choices and why: FinBERT because it understands financial language, plus a head trained on tweets because social text is different. Rules where phrases are near-certain, so behaviour is auditable. A transparent impact model because model-risk teams must explain scores. Two tiers so it runs on any laptop, and a replay mode so the demo never depends on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number compares RiskPulse with a naive approach on data the models never saw. Sentiment and event classification beat their baselines; out of sample, days with a red alert moved the S&amp;P 500 about a fifth more than other days, while simply picking the busiest news days did worse than chance; and event-aware stress tests avoid the sign errors of a static shock. I also report what did not work: no reliable trading edge once timing is strict.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it matters: a stress test usually runs on a schedule with a generic shock. RiskPulse runs the right scenario for the event that just happened, sized by its impact, and shows the capital effect within seconds. Because every score is explainable and reproducible, it fits model-risk governance.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hardest problems were about trust, not models. An early backtest looked brilliant until I found it used news before it was published; with strict timing the edge disappears, and I report that. Most headlines carry only a date, so they count only after the day ends. And the stress trigger first fired on questions and opinion pieces, so it now runs only on reported, adverse events. Next: intraday feeds, more languages, a production message bus and a full revaluation library.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
          <p:cNvSpPr txBox="1"/>
          <p:nvPr/>
        </p:nvSpPr>
        <p:spPr>
          <a:xfrm>
            <a:off x="9966960" y="6400800"/>
            <a:ext cx="1737360" cy="274320"/>
          </a:xfrm>
          <a:prstGeom prst="rect">
            <a:avLst/>
          </a:prstGeom>
          <a:noFill/>
        </p:spPr>
        <p:txBody>
          <a:bodyPr wrap="square" lIns="0" rIns="0" tIns="0" bIns="0" anchor="t">
            <a:spAutoFit/>
          </a:bodyPr>
          <a:lstStyle/>
          <a:p>
            <a:pPr algn="r"/>
            <a:r>
              <a:rPr sz="1000" b="0" i="0">
                <a:solidFill>
                  <a:srgbClr val="8A97A8"/>
                </a:solidFill>
                <a:latin typeface="Calibri"/>
              </a:rPr>
              <a:t>RiskPulse  ·  1 / 7</a:t>
            </a:r>
          </a:p>
        </p:txBody>
      </p:sp>
      <p:sp>
        <p:nvSpPr>
          <p:cNvPr id="3" name="text"/>
          <p:cNvSpPr txBox="1"/>
          <p:nvPr/>
        </p:nvSpPr>
        <p:spPr>
          <a:xfrm>
            <a:off x="731520" y="1051560"/>
            <a:ext cx="9144000" cy="365760"/>
          </a:xfrm>
          <a:prstGeom prst="rect">
            <a:avLst/>
          </a:prstGeom>
          <a:noFill/>
        </p:spPr>
        <p:txBody>
          <a:bodyPr wrap="square" lIns="0" rIns="0" tIns="0" bIns="0" anchor="t">
            <a:spAutoFit/>
          </a:bodyPr>
          <a:lstStyle/>
          <a:p>
            <a:pPr algn="l"/>
            <a:r>
              <a:rPr sz="1300" b="1" i="0">
                <a:solidFill>
                  <a:srgbClr val="F2A541"/>
                </a:solidFill>
                <a:latin typeface="Calibri"/>
              </a:rPr>
              <a:t>S&amp;P GLOBAL &amp; CRISIL CAMPUS HACKATHON 2026</a:t>
            </a:r>
          </a:p>
        </p:txBody>
      </p:sp>
      <p:sp>
        <p:nvSpPr>
          <p:cNvPr id="4" name="text"/>
          <p:cNvSpPr txBox="1"/>
          <p:nvPr/>
        </p:nvSpPr>
        <p:spPr>
          <a:xfrm>
            <a:off x="731520" y="1554480"/>
            <a:ext cx="10058400" cy="1188720"/>
          </a:xfrm>
          <a:prstGeom prst="rect">
            <a:avLst/>
          </a:prstGeom>
          <a:noFill/>
        </p:spPr>
        <p:txBody>
          <a:bodyPr wrap="square" lIns="0" rIns="0" tIns="0" bIns="0" anchor="t">
            <a:spAutoFit/>
          </a:bodyPr>
          <a:lstStyle/>
          <a:p>
            <a:pPr algn="l"/>
            <a:r>
              <a:rPr sz="6600" b="1" i="0">
                <a:solidFill>
                  <a:srgbClr val="FFFFFF"/>
                </a:solidFill>
                <a:latin typeface="Calibri"/>
              </a:rPr>
              <a:t>RiskPulse</a:t>
            </a:r>
          </a:p>
        </p:txBody>
      </p:sp>
      <p:sp>
        <p:nvSpPr>
          <p:cNvPr id="5" name="text"/>
          <p:cNvSpPr txBox="1"/>
          <p:nvPr/>
        </p:nvSpPr>
        <p:spPr>
          <a:xfrm>
            <a:off x="731520" y="2788920"/>
            <a:ext cx="7863840" cy="1097280"/>
          </a:xfrm>
          <a:prstGeom prst="rect">
            <a:avLst/>
          </a:prstGeom>
          <a:noFill/>
        </p:spPr>
        <p:txBody>
          <a:bodyPr wrap="square" lIns="0" rIns="0" tIns="0" bIns="0" anchor="t">
            <a:spAutoFit/>
          </a:bodyPr>
          <a:lstStyle/>
          <a:p>
            <a:pPr algn="l"/>
            <a:r>
              <a:rPr sz="2000" b="0" i="0">
                <a:solidFill>
                  <a:srgbClr val="C9D3E0"/>
                </a:solidFill>
                <a:latin typeface="Calibri"/>
              </a:rPr>
              <a:t>A real-time AI/NLP risk engine that reads news and social posts, turns each into a structured risk signal, and acts on it: a tactical index rebalancer and a wholesale-bank stress test.</a:t>
            </a:r>
          </a:p>
        </p:txBody>
      </p:sp>
      <p:sp>
        <p:nvSpPr>
          <p:cNvPr id="6" name="pulse"/>
          <p:cNvSpPr/>
          <p:nvPr/>
        </p:nvSpPr>
        <p:spPr>
          <a:xfrm>
            <a:off x="731520" y="4201668"/>
            <a:ext cx="10698480" cy="740663"/>
          </a:xfrm>
          <a:custGeom>
            <a:avLst/>
            <a:gdLst/>
            <a:ahLst/>
            <a:cxnLst/>
            <a:rect l="l" t="t" r="r" b="b"/>
            <a:pathLst>
              <a:path w="10698480" h="740663">
                <a:moveTo>
                  <a:pt x="0" y="370332"/>
                </a:moveTo>
                <a:lnTo>
                  <a:pt x="3209543" y="370332"/>
                </a:lnTo>
                <a:lnTo>
                  <a:pt x="3851452" y="246888"/>
                </a:lnTo>
                <a:lnTo>
                  <a:pt x="4493361" y="370332"/>
                </a:lnTo>
                <a:lnTo>
                  <a:pt x="5135270" y="370332"/>
                </a:lnTo>
                <a:lnTo>
                  <a:pt x="5563209" y="0"/>
                </a:lnTo>
                <a:lnTo>
                  <a:pt x="6098133" y="740663"/>
                </a:lnTo>
                <a:lnTo>
                  <a:pt x="6633057" y="370332"/>
                </a:lnTo>
                <a:lnTo>
                  <a:pt x="7488936" y="370332"/>
                </a:lnTo>
                <a:lnTo>
                  <a:pt x="7916875" y="271576"/>
                </a:lnTo>
                <a:lnTo>
                  <a:pt x="8344814" y="370332"/>
                </a:lnTo>
                <a:lnTo>
                  <a:pt x="10698480" y="370332"/>
                </a:lnTo>
              </a:path>
            </a:pathLst>
          </a:custGeom>
          <a:noFill/>
          <a:ln w="28575">
            <a:solidFill>
              <a:srgbClr val="F2A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31520" y="5257800"/>
            <a:ext cx="7315200" cy="822960"/>
          </a:xfrm>
          <a:prstGeom prst="rect">
            <a:avLst/>
          </a:prstGeom>
          <a:noFill/>
        </p:spPr>
        <p:txBody>
          <a:bodyPr wrap="square" lIns="0" rIns="0" tIns="0" bIns="0" anchor="t">
            <a:spAutoFit/>
          </a:bodyPr>
          <a:lstStyle/>
          <a:p>
            <a:pPr algn="l">
              <a:spcAft>
                <a:spcPts val="800"/>
              </a:spcAft>
            </a:pPr>
            <a:r>
              <a:rPr sz="2000" b="1" i="0">
                <a:solidFill>
                  <a:srgbClr val="FFFFFF"/>
                </a:solidFill>
                <a:latin typeface="Calibri"/>
              </a:rPr>
              <a:t>Anish Karthik Ayyagari</a:t>
            </a:r>
          </a:p>
          <a:p>
            <a:pPr algn="l">
              <a:spcAft>
                <a:spcPts val="800"/>
              </a:spcAft>
            </a:pPr>
            <a:r>
              <a:rPr sz="1600" b="0" i="0">
                <a:solidFill>
                  <a:srgbClr val="C9D3E0"/>
                </a:solidFill>
                <a:latin typeface="Calibri"/>
              </a:rPr>
              <a:t>IIT Kharagpur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p:cNvSpPr txBox="1"/>
          <p:nvPr/>
        </p:nvSpPr>
        <p:spPr>
          <a:xfrm>
            <a:off x="548640" y="347472"/>
            <a:ext cx="8229600" cy="320040"/>
          </a:xfrm>
          <a:prstGeom prst="rect">
            <a:avLst/>
          </a:prstGeom>
          <a:noFill/>
        </p:spPr>
        <p:txBody>
          <a:bodyPr wrap="square" lIns="0" rIns="0" tIns="0" bIns="0" anchor="t">
            <a:spAutoFit/>
          </a:bodyPr>
          <a:lstStyle/>
          <a:p>
            <a:pPr algn="l"/>
            <a:r>
              <a:rPr sz="1200" b="1" i="0">
                <a:solidFill>
                  <a:srgbClr val="2A78D6"/>
                </a:solidFill>
                <a:latin typeface="Calibri"/>
              </a:rPr>
              <a:t>02  ·  PROBLEM &amp; APPROACH</a:t>
            </a:r>
          </a:p>
        </p:txBody>
      </p:sp>
      <p:sp>
        <p:nvSpPr>
          <p:cNvPr id="3" name="text"/>
          <p:cNvSpPr txBox="1"/>
          <p:nvPr/>
        </p:nvSpPr>
        <p:spPr>
          <a:xfrm>
            <a:off x="9966960" y="6400800"/>
            <a:ext cx="1737360" cy="274320"/>
          </a:xfrm>
          <a:prstGeom prst="rect">
            <a:avLst/>
          </a:prstGeom>
          <a:noFill/>
        </p:spPr>
        <p:txBody>
          <a:bodyPr wrap="square" lIns="0" rIns="0" tIns="0" bIns="0" anchor="t">
            <a:spAutoFit/>
          </a:bodyPr>
          <a:lstStyle/>
          <a:p>
            <a:pPr algn="r"/>
            <a:r>
              <a:rPr sz="1000" b="0" i="0">
                <a:solidFill>
                  <a:srgbClr val="5B6573"/>
                </a:solidFill>
                <a:latin typeface="Calibri"/>
              </a:rPr>
              <a:t>RiskPulse  ·  2 / 7</a:t>
            </a:r>
          </a:p>
        </p:txBody>
      </p:sp>
      <p:sp>
        <p:nvSpPr>
          <p:cNvPr id="4" name="text"/>
          <p:cNvSpPr txBox="1"/>
          <p:nvPr/>
        </p:nvSpPr>
        <p:spPr>
          <a:xfrm>
            <a:off x="548640" y="777240"/>
            <a:ext cx="10972800" cy="731520"/>
          </a:xfrm>
          <a:prstGeom prst="rect">
            <a:avLst/>
          </a:prstGeom>
          <a:noFill/>
        </p:spPr>
        <p:txBody>
          <a:bodyPr wrap="square" lIns="0" rIns="0" tIns="0" bIns="0" anchor="t">
            <a:spAutoFit/>
          </a:bodyPr>
          <a:lstStyle/>
          <a:p>
            <a:pPr algn="l"/>
            <a:r>
              <a:rPr sz="3400" b="1" i="0">
                <a:solidFill>
                  <a:srgbClr val="1B2430"/>
                </a:solidFill>
                <a:latin typeface="Calibri"/>
              </a:rPr>
              <a:t>Risk desks see the news; they cannot score all of it</a:t>
            </a:r>
          </a:p>
        </p:txBody>
      </p:sp>
      <p:sp>
        <p:nvSpPr>
          <p:cNvPr id="5" name="text"/>
          <p:cNvSpPr txBox="1"/>
          <p:nvPr/>
        </p:nvSpPr>
        <p:spPr>
          <a:xfrm>
            <a:off x="548640" y="1783080"/>
            <a:ext cx="4206240" cy="3108960"/>
          </a:xfrm>
          <a:prstGeom prst="rect">
            <a:avLst/>
          </a:prstGeom>
          <a:noFill/>
        </p:spPr>
        <p:txBody>
          <a:bodyPr wrap="square" lIns="0" rIns="0" tIns="0" bIns="0" anchor="t">
            <a:spAutoFit/>
          </a:bodyPr>
          <a:lstStyle/>
          <a:p>
            <a:pPr algn="l">
              <a:spcAft>
                <a:spcPts val="800"/>
              </a:spcAft>
            </a:pPr>
            <a:r>
              <a:rPr sz="1800" b="1" i="0">
                <a:solidFill>
                  <a:srgbClr val="1B2430"/>
                </a:solidFill>
                <a:latin typeface="Calibri"/>
              </a:rPr>
              <a:t>The problem</a:t>
            </a:r>
          </a:p>
          <a:p>
            <a:pPr algn="l">
              <a:spcAft>
                <a:spcPts val="800"/>
              </a:spcAft>
            </a:pPr>
            <a:r>
              <a:rPr sz="1600" b="0" i="0">
                <a:solidFill>
                  <a:srgbClr val="5B6573"/>
                </a:solidFill>
                <a:latin typeface="Calibri"/>
              </a:rPr>
              <a:t>Thousands of headlines and posts a day, in free text</a:t>
            </a:r>
          </a:p>
          <a:p>
            <a:pPr algn="l">
              <a:spcAft>
                <a:spcPts val="800"/>
              </a:spcAft>
            </a:pPr>
            <a:r>
              <a:rPr sz="1600" b="0" i="0">
                <a:solidFill>
                  <a:srgbClr val="5B6573"/>
                </a:solidFill>
                <a:latin typeface="Calibri"/>
              </a:rPr>
              <a:t>Analysts triage by hand; stress tests run on fixed schedules</a:t>
            </a:r>
          </a:p>
          <a:p>
            <a:pPr algn="l">
              <a:spcAft>
                <a:spcPts val="800"/>
              </a:spcAft>
            </a:pPr>
            <a:r>
              <a:rPr sz="1600" b="0" i="0">
                <a:solidFill>
                  <a:srgbClr val="5B6573"/>
                </a:solidFill>
                <a:latin typeface="Calibri"/>
              </a:rPr>
              <a:t>A static shock ignores what an event actually does to rates, spreads and sectors</a:t>
            </a:r>
          </a:p>
        </p:txBody>
      </p:sp>
      <p:sp>
        <p:nvSpPr>
          <p:cNvPr id="6" name="step1"/>
          <p:cNvSpPr/>
          <p:nvPr/>
        </p:nvSpPr>
        <p:spPr>
          <a:xfrm>
            <a:off x="5212080" y="1783080"/>
            <a:ext cx="6400800" cy="1234440"/>
          </a:xfrm>
          <a:prstGeom prst="roundRect">
            <a:avLst>
              <a:gd name="adj" fmla="val 6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ep1-badge"/>
          <p:cNvSpPr/>
          <p:nvPr/>
        </p:nvSpPr>
        <p:spPr>
          <a:xfrm>
            <a:off x="5440680" y="2121408"/>
            <a:ext cx="548640" cy="54864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
          <p:cNvSpPr txBox="1"/>
          <p:nvPr/>
        </p:nvSpPr>
        <p:spPr>
          <a:xfrm>
            <a:off x="6217920" y="1984248"/>
            <a:ext cx="5120640" cy="411480"/>
          </a:xfrm>
          <a:prstGeom prst="rect">
            <a:avLst/>
          </a:prstGeom>
          <a:noFill/>
        </p:spPr>
        <p:txBody>
          <a:bodyPr wrap="square" lIns="0" rIns="0" tIns="0" bIns="0" anchor="t">
            <a:spAutoFit/>
          </a:bodyPr>
          <a:lstStyle/>
          <a:p>
            <a:pPr algn="l"/>
            <a:r>
              <a:rPr sz="2000" b="1" i="0">
                <a:solidFill>
                  <a:srgbClr val="1B2430"/>
                </a:solidFill>
                <a:latin typeface="Calibri"/>
              </a:rPr>
              <a:t>Read</a:t>
            </a:r>
          </a:p>
        </p:txBody>
      </p:sp>
      <p:sp>
        <p:nvSpPr>
          <p:cNvPr id="9" name="text"/>
          <p:cNvSpPr txBox="1"/>
          <p:nvPr/>
        </p:nvSpPr>
        <p:spPr>
          <a:xfrm>
            <a:off x="6217920" y="2404872"/>
            <a:ext cx="5212080" cy="548640"/>
          </a:xfrm>
          <a:prstGeom prst="rect">
            <a:avLst/>
          </a:prstGeom>
          <a:noFill/>
        </p:spPr>
        <p:txBody>
          <a:bodyPr wrap="square" lIns="0" rIns="0" tIns="0" bIns="0" anchor="t">
            <a:spAutoFit/>
          </a:bodyPr>
          <a:lstStyle/>
          <a:p>
            <a:pPr algn="l"/>
            <a:r>
              <a:rPr sz="1500" b="0" i="0">
                <a:solidFill>
                  <a:srgbClr val="5B6573"/>
                </a:solidFill>
                <a:latin typeface="Calibri"/>
              </a:rPr>
              <a:t>News (GDELT, RSS) and social posts, deduplicated into stories</a:t>
            </a:r>
          </a:p>
        </p:txBody>
      </p:sp>
      <p:sp>
        <p:nvSpPr>
          <p:cNvPr id="10" name="step2"/>
          <p:cNvSpPr/>
          <p:nvPr/>
        </p:nvSpPr>
        <p:spPr>
          <a:xfrm>
            <a:off x="5212080" y="3246120"/>
            <a:ext cx="6400800" cy="1234440"/>
          </a:xfrm>
          <a:prstGeom prst="roundRect">
            <a:avLst>
              <a:gd name="adj" fmla="val 6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ep2-badge"/>
          <p:cNvSpPr/>
          <p:nvPr/>
        </p:nvSpPr>
        <p:spPr>
          <a:xfrm>
            <a:off x="5440680" y="3584448"/>
            <a:ext cx="548640" cy="548640"/>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2" name="text"/>
          <p:cNvSpPr txBox="1"/>
          <p:nvPr/>
        </p:nvSpPr>
        <p:spPr>
          <a:xfrm>
            <a:off x="6217920" y="3447288"/>
            <a:ext cx="5120640" cy="411480"/>
          </a:xfrm>
          <a:prstGeom prst="rect">
            <a:avLst/>
          </a:prstGeom>
          <a:noFill/>
        </p:spPr>
        <p:txBody>
          <a:bodyPr wrap="square" lIns="0" rIns="0" tIns="0" bIns="0" anchor="t">
            <a:spAutoFit/>
          </a:bodyPr>
          <a:lstStyle/>
          <a:p>
            <a:pPr algn="l"/>
            <a:r>
              <a:rPr sz="2000" b="1" i="0">
                <a:solidFill>
                  <a:srgbClr val="1B2430"/>
                </a:solidFill>
                <a:latin typeface="Calibri"/>
              </a:rPr>
              <a:t>Score</a:t>
            </a:r>
          </a:p>
        </p:txBody>
      </p:sp>
      <p:sp>
        <p:nvSpPr>
          <p:cNvPr id="13" name="text"/>
          <p:cNvSpPr txBox="1"/>
          <p:nvPr/>
        </p:nvSpPr>
        <p:spPr>
          <a:xfrm>
            <a:off x="6217920" y="3867911"/>
            <a:ext cx="5212080" cy="548640"/>
          </a:xfrm>
          <a:prstGeom prst="rect">
            <a:avLst/>
          </a:prstGeom>
          <a:noFill/>
        </p:spPr>
        <p:txBody>
          <a:bodyPr wrap="square" lIns="0" rIns="0" tIns="0" bIns="0" anchor="t">
            <a:spAutoFit/>
          </a:bodyPr>
          <a:lstStyle/>
          <a:p>
            <a:pPr algn="l"/>
            <a:r>
              <a:rPr sz="1500" b="0" i="0">
                <a:solidFill>
                  <a:srgbClr val="5B6573"/>
                </a:solidFill>
                <a:latin typeface="Calibri"/>
              </a:rPr>
              <a:t>Sentiment −1…1, one of 12 risk events, impact 1–10 with its drivers</a:t>
            </a:r>
          </a:p>
        </p:txBody>
      </p:sp>
      <p:sp>
        <p:nvSpPr>
          <p:cNvPr id="14" name="step3"/>
          <p:cNvSpPr/>
          <p:nvPr/>
        </p:nvSpPr>
        <p:spPr>
          <a:xfrm>
            <a:off x="5212080" y="4709160"/>
            <a:ext cx="6400800" cy="1234440"/>
          </a:xfrm>
          <a:prstGeom prst="roundRect">
            <a:avLst>
              <a:gd name="adj" fmla="val 6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3-badge"/>
          <p:cNvSpPr/>
          <p:nvPr/>
        </p:nvSpPr>
        <p:spPr>
          <a:xfrm>
            <a:off x="5440680" y="5047488"/>
            <a:ext cx="548640" cy="548640"/>
          </a:xfrm>
          <a:prstGeom prst="ellipse">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6" name="text"/>
          <p:cNvSpPr txBox="1"/>
          <p:nvPr/>
        </p:nvSpPr>
        <p:spPr>
          <a:xfrm>
            <a:off x="6217920" y="4910328"/>
            <a:ext cx="5120640" cy="411480"/>
          </a:xfrm>
          <a:prstGeom prst="rect">
            <a:avLst/>
          </a:prstGeom>
          <a:noFill/>
        </p:spPr>
        <p:txBody>
          <a:bodyPr wrap="square" lIns="0" rIns="0" tIns="0" bIns="0" anchor="t">
            <a:spAutoFit/>
          </a:bodyPr>
          <a:lstStyle/>
          <a:p>
            <a:pPr algn="l"/>
            <a:r>
              <a:rPr sz="2000" b="1" i="0">
                <a:solidFill>
                  <a:srgbClr val="1B2430"/>
                </a:solidFill>
                <a:latin typeface="Calibri"/>
              </a:rPr>
              <a:t>Act</a:t>
            </a:r>
          </a:p>
        </p:txBody>
      </p:sp>
      <p:sp>
        <p:nvSpPr>
          <p:cNvPr id="17" name="text"/>
          <p:cNvSpPr txBox="1"/>
          <p:nvPr/>
        </p:nvSpPr>
        <p:spPr>
          <a:xfrm>
            <a:off x="6217920" y="5330952"/>
            <a:ext cx="5212080" cy="548640"/>
          </a:xfrm>
          <a:prstGeom prst="rect">
            <a:avLst/>
          </a:prstGeom>
          <a:noFill/>
        </p:spPr>
        <p:txBody>
          <a:bodyPr wrap="square" lIns="0" rIns="0" tIns="0" bIns="0" anchor="t">
            <a:spAutoFit/>
          </a:bodyPr>
          <a:lstStyle/>
          <a:p>
            <a:pPr algn="l"/>
            <a:r>
              <a:rPr sz="1500" b="0" i="0">
                <a:solidFill>
                  <a:srgbClr val="5B6573"/>
                </a:solidFill>
                <a:latin typeface="Calibri"/>
              </a:rPr>
              <a:t>Module A tilts index weights; Module B stress-tests a $8.5bn book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p:cNvSpPr txBox="1"/>
          <p:nvPr/>
        </p:nvSpPr>
        <p:spPr>
          <a:xfrm>
            <a:off x="548640" y="347472"/>
            <a:ext cx="8229600" cy="320040"/>
          </a:xfrm>
          <a:prstGeom prst="rect">
            <a:avLst/>
          </a:prstGeom>
          <a:noFill/>
        </p:spPr>
        <p:txBody>
          <a:bodyPr wrap="square" lIns="0" rIns="0" tIns="0" bIns="0" anchor="t">
            <a:spAutoFit/>
          </a:bodyPr>
          <a:lstStyle/>
          <a:p>
            <a:pPr algn="l"/>
            <a:r>
              <a:rPr sz="1200" b="1" i="0">
                <a:solidFill>
                  <a:srgbClr val="2A78D6"/>
                </a:solidFill>
                <a:latin typeface="Calibri"/>
              </a:rPr>
              <a:t>03  ·  SYSTEM DESIGN</a:t>
            </a:r>
          </a:p>
        </p:txBody>
      </p:sp>
      <p:sp>
        <p:nvSpPr>
          <p:cNvPr id="3" name="text"/>
          <p:cNvSpPr txBox="1"/>
          <p:nvPr/>
        </p:nvSpPr>
        <p:spPr>
          <a:xfrm>
            <a:off x="9966960" y="6400800"/>
            <a:ext cx="1737360" cy="274320"/>
          </a:xfrm>
          <a:prstGeom prst="rect">
            <a:avLst/>
          </a:prstGeom>
          <a:noFill/>
        </p:spPr>
        <p:txBody>
          <a:bodyPr wrap="square" lIns="0" rIns="0" tIns="0" bIns="0" anchor="t">
            <a:spAutoFit/>
          </a:bodyPr>
          <a:lstStyle/>
          <a:p>
            <a:pPr algn="r"/>
            <a:r>
              <a:rPr sz="1000" b="0" i="0">
                <a:solidFill>
                  <a:srgbClr val="5B6573"/>
                </a:solidFill>
                <a:latin typeface="Calibri"/>
              </a:rPr>
              <a:t>RiskPulse  ·  3 / 7</a:t>
            </a:r>
          </a:p>
        </p:txBody>
      </p:sp>
      <p:sp>
        <p:nvSpPr>
          <p:cNvPr id="4" name="text"/>
          <p:cNvSpPr txBox="1"/>
          <p:nvPr/>
        </p:nvSpPr>
        <p:spPr>
          <a:xfrm>
            <a:off x="548640" y="777240"/>
            <a:ext cx="10972800" cy="731520"/>
          </a:xfrm>
          <a:prstGeom prst="rect">
            <a:avLst/>
          </a:prstGeom>
          <a:noFill/>
        </p:spPr>
        <p:txBody>
          <a:bodyPr wrap="square" lIns="0" rIns="0" tIns="0" bIns="0" anchor="t">
            <a:spAutoFit/>
          </a:bodyPr>
          <a:lstStyle/>
          <a:p>
            <a:pPr algn="l"/>
            <a:r>
              <a:rPr sz="3400" b="1" i="0">
                <a:solidFill>
                  <a:srgbClr val="1B2430"/>
                </a:solidFill>
                <a:latin typeface="Calibri"/>
              </a:rPr>
              <a:t>One engine, decoupled consumers, one versioned signal</a:t>
            </a:r>
          </a:p>
        </p:txBody>
      </p:sp>
      <p:pic>
        <p:nvPicPr>
          <p:cNvPr id="5" name="architecture" descr="architecture.png"/>
          <p:cNvPicPr>
            <a:picLocks noChangeAspect="1"/>
          </p:cNvPicPr>
          <p:nvPr/>
        </p:nvPicPr>
        <p:blipFill>
          <a:blip r:embed="rId2"/>
          <a:stretch>
            <a:fillRect/>
          </a:stretch>
        </p:blipFill>
        <p:spPr>
          <a:xfrm>
            <a:off x="1746504" y="1417320"/>
            <a:ext cx="8696960" cy="48920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p:cNvSpPr txBox="1"/>
          <p:nvPr/>
        </p:nvSpPr>
        <p:spPr>
          <a:xfrm>
            <a:off x="548640" y="347472"/>
            <a:ext cx="8229600" cy="320040"/>
          </a:xfrm>
          <a:prstGeom prst="rect">
            <a:avLst/>
          </a:prstGeom>
          <a:noFill/>
        </p:spPr>
        <p:txBody>
          <a:bodyPr wrap="square" lIns="0" rIns="0" tIns="0" bIns="0" anchor="t">
            <a:spAutoFit/>
          </a:bodyPr>
          <a:lstStyle/>
          <a:p>
            <a:pPr algn="l"/>
            <a:r>
              <a:rPr sz="1200" b="1" i="0">
                <a:solidFill>
                  <a:srgbClr val="2A78D6"/>
                </a:solidFill>
                <a:latin typeface="Calibri"/>
              </a:rPr>
              <a:t>04  ·  IMPLEMENTATION HIGHLIGHTS</a:t>
            </a:r>
          </a:p>
        </p:txBody>
      </p:sp>
      <p:sp>
        <p:nvSpPr>
          <p:cNvPr id="3" name="text"/>
          <p:cNvSpPr txBox="1"/>
          <p:nvPr/>
        </p:nvSpPr>
        <p:spPr>
          <a:xfrm>
            <a:off x="9966960" y="6400800"/>
            <a:ext cx="1737360" cy="274320"/>
          </a:xfrm>
          <a:prstGeom prst="rect">
            <a:avLst/>
          </a:prstGeom>
          <a:noFill/>
        </p:spPr>
        <p:txBody>
          <a:bodyPr wrap="square" lIns="0" rIns="0" tIns="0" bIns="0" anchor="t">
            <a:spAutoFit/>
          </a:bodyPr>
          <a:lstStyle/>
          <a:p>
            <a:pPr algn="r"/>
            <a:r>
              <a:rPr sz="1000" b="0" i="0">
                <a:solidFill>
                  <a:srgbClr val="5B6573"/>
                </a:solidFill>
                <a:latin typeface="Calibri"/>
              </a:rPr>
              <a:t>RiskPulse  ·  4 / 7</a:t>
            </a:r>
          </a:p>
        </p:txBody>
      </p:sp>
      <p:sp>
        <p:nvSpPr>
          <p:cNvPr id="4" name="text"/>
          <p:cNvSpPr txBox="1"/>
          <p:nvPr/>
        </p:nvSpPr>
        <p:spPr>
          <a:xfrm>
            <a:off x="548640" y="777240"/>
            <a:ext cx="10972800" cy="731520"/>
          </a:xfrm>
          <a:prstGeom prst="rect">
            <a:avLst/>
          </a:prstGeom>
          <a:noFill/>
        </p:spPr>
        <p:txBody>
          <a:bodyPr wrap="square" lIns="0" rIns="0" tIns="0" bIns="0" anchor="t">
            <a:spAutoFit/>
          </a:bodyPr>
          <a:lstStyle/>
          <a:p>
            <a:pPr algn="l"/>
            <a:r>
              <a:rPr sz="3400" b="1" i="0">
                <a:solidFill>
                  <a:srgbClr val="1B2430"/>
                </a:solidFill>
                <a:latin typeface="Calibri"/>
              </a:rPr>
              <a:t>Built for a risk desk: explainable, testable, offline-first</a:t>
            </a:r>
          </a:p>
        </p:txBody>
      </p:sp>
      <p:sp>
        <p:nvSpPr>
          <p:cNvPr id="5" name="card1"/>
          <p:cNvSpPr/>
          <p:nvPr/>
        </p:nvSpPr>
        <p:spPr>
          <a:xfrm>
            <a:off x="548640" y="1783080"/>
            <a:ext cx="3520440" cy="2011680"/>
          </a:xfrm>
          <a:prstGeom prst="roundRect">
            <a:avLst>
              <a:gd name="adj" fmla="val 6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1-dot"/>
          <p:cNvSpPr/>
          <p:nvPr/>
        </p:nvSpPr>
        <p:spPr>
          <a:xfrm>
            <a:off x="822959" y="2057400"/>
            <a:ext cx="384048" cy="384048"/>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1371600" y="2057400"/>
            <a:ext cx="2560320" cy="411480"/>
          </a:xfrm>
          <a:prstGeom prst="rect">
            <a:avLst/>
          </a:prstGeom>
          <a:noFill/>
        </p:spPr>
        <p:txBody>
          <a:bodyPr wrap="square" lIns="0" rIns="0" tIns="0" bIns="0" anchor="t">
            <a:spAutoFit/>
          </a:bodyPr>
          <a:lstStyle/>
          <a:p>
            <a:pPr algn="l"/>
            <a:r>
              <a:rPr sz="1900" b="1" i="0">
                <a:solidFill>
                  <a:srgbClr val="1B2430"/>
                </a:solidFill>
                <a:latin typeface="Calibri"/>
              </a:rPr>
              <a:t>Hybrid NLP</a:t>
            </a:r>
          </a:p>
        </p:txBody>
      </p:sp>
      <p:sp>
        <p:nvSpPr>
          <p:cNvPr id="8" name="text"/>
          <p:cNvSpPr txBox="1"/>
          <p:nvPr/>
        </p:nvSpPr>
        <p:spPr>
          <a:xfrm>
            <a:off x="822959" y="2651760"/>
            <a:ext cx="3017520" cy="1097280"/>
          </a:xfrm>
          <a:prstGeom prst="rect">
            <a:avLst/>
          </a:prstGeom>
          <a:noFill/>
        </p:spPr>
        <p:txBody>
          <a:bodyPr wrap="square" lIns="0" rIns="0" tIns="0" bIns="0" anchor="t">
            <a:spAutoFit/>
          </a:bodyPr>
          <a:lstStyle/>
          <a:p>
            <a:pPr algn="l"/>
            <a:r>
              <a:rPr sz="1450" b="0" i="0">
                <a:solidFill>
                  <a:srgbClr val="5B6573"/>
                </a:solidFill>
                <a:latin typeface="Calibri"/>
              </a:rPr>
              <a:t>FinBERT + a tweet-trained head blended by source; 12-class event model with high-precision rules</a:t>
            </a:r>
          </a:p>
        </p:txBody>
      </p:sp>
      <p:sp>
        <p:nvSpPr>
          <p:cNvPr id="9" name="card2"/>
          <p:cNvSpPr/>
          <p:nvPr/>
        </p:nvSpPr>
        <p:spPr>
          <a:xfrm>
            <a:off x="4297679" y="1783080"/>
            <a:ext cx="3520440" cy="2011680"/>
          </a:xfrm>
          <a:prstGeom prst="roundRect">
            <a:avLst>
              <a:gd name="adj" fmla="val 6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2-dot"/>
          <p:cNvSpPr/>
          <p:nvPr/>
        </p:nvSpPr>
        <p:spPr>
          <a:xfrm>
            <a:off x="4571999" y="2057400"/>
            <a:ext cx="384048" cy="384048"/>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cNvSpPr txBox="1"/>
          <p:nvPr/>
        </p:nvSpPr>
        <p:spPr>
          <a:xfrm>
            <a:off x="5120640" y="2057400"/>
            <a:ext cx="2560320" cy="411480"/>
          </a:xfrm>
          <a:prstGeom prst="rect">
            <a:avLst/>
          </a:prstGeom>
          <a:noFill/>
        </p:spPr>
        <p:txBody>
          <a:bodyPr wrap="square" lIns="0" rIns="0" tIns="0" bIns="0" anchor="t">
            <a:spAutoFit/>
          </a:bodyPr>
          <a:lstStyle/>
          <a:p>
            <a:pPr algn="l"/>
            <a:r>
              <a:rPr sz="1900" b="1" i="0">
                <a:solidFill>
                  <a:srgbClr val="1B2430"/>
                </a:solidFill>
                <a:latin typeface="Calibri"/>
              </a:rPr>
              <a:t>Explainable impact</a:t>
            </a:r>
          </a:p>
        </p:txBody>
      </p:sp>
      <p:sp>
        <p:nvSpPr>
          <p:cNvPr id="12" name="text"/>
          <p:cNvSpPr txBox="1"/>
          <p:nvPr/>
        </p:nvSpPr>
        <p:spPr>
          <a:xfrm>
            <a:off x="4571999" y="2651760"/>
            <a:ext cx="3017520" cy="1097280"/>
          </a:xfrm>
          <a:prstGeom prst="rect">
            <a:avLst/>
          </a:prstGeom>
          <a:noFill/>
        </p:spPr>
        <p:txBody>
          <a:bodyPr wrap="square" lIns="0" rIns="0" tIns="0" bIns="0" anchor="t">
            <a:spAutoFit/>
          </a:bodyPr>
          <a:lstStyle/>
          <a:p>
            <a:pPr algn="l"/>
            <a:r>
              <a:rPr sz="1450" b="0" i="0">
                <a:solidFill>
                  <a:srgbClr val="5B6573"/>
                </a:solidFill>
                <a:latin typeface="Calibri"/>
              </a:rPr>
              <a:t>Logistic factor model: 9 drivers stored on every signal, validated by an event study</a:t>
            </a:r>
          </a:p>
        </p:txBody>
      </p:sp>
      <p:sp>
        <p:nvSpPr>
          <p:cNvPr id="13" name="card3"/>
          <p:cNvSpPr/>
          <p:nvPr/>
        </p:nvSpPr>
        <p:spPr>
          <a:xfrm>
            <a:off x="8046719" y="1783080"/>
            <a:ext cx="3520440" cy="2011680"/>
          </a:xfrm>
          <a:prstGeom prst="roundRect">
            <a:avLst>
              <a:gd name="adj" fmla="val 6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3-dot"/>
          <p:cNvSpPr/>
          <p:nvPr/>
        </p:nvSpPr>
        <p:spPr>
          <a:xfrm>
            <a:off x="8321040" y="2057400"/>
            <a:ext cx="384048" cy="384048"/>
          </a:xfrm>
          <a:prstGeom prst="ellipse">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cNvSpPr txBox="1"/>
          <p:nvPr/>
        </p:nvSpPr>
        <p:spPr>
          <a:xfrm>
            <a:off x="8869680" y="2057400"/>
            <a:ext cx="2560320" cy="411480"/>
          </a:xfrm>
          <a:prstGeom prst="rect">
            <a:avLst/>
          </a:prstGeom>
          <a:noFill/>
        </p:spPr>
        <p:txBody>
          <a:bodyPr wrap="square" lIns="0" rIns="0" tIns="0" bIns="0" anchor="t">
            <a:spAutoFit/>
          </a:bodyPr>
          <a:lstStyle/>
          <a:p>
            <a:pPr algn="l"/>
            <a:r>
              <a:rPr sz="1900" b="1" i="0">
                <a:solidFill>
                  <a:srgbClr val="1B2430"/>
                </a:solidFill>
                <a:latin typeface="Calibri"/>
              </a:rPr>
              <a:t>Decoupled design</a:t>
            </a:r>
          </a:p>
        </p:txBody>
      </p:sp>
      <p:sp>
        <p:nvSpPr>
          <p:cNvPr id="16" name="text"/>
          <p:cNvSpPr txBox="1"/>
          <p:nvPr/>
        </p:nvSpPr>
        <p:spPr>
          <a:xfrm>
            <a:off x="8321040" y="2651760"/>
            <a:ext cx="3017520" cy="1097280"/>
          </a:xfrm>
          <a:prstGeom prst="rect">
            <a:avLst/>
          </a:prstGeom>
          <a:noFill/>
        </p:spPr>
        <p:txBody>
          <a:bodyPr wrap="square" lIns="0" rIns="0" tIns="0" bIns="0" anchor="t">
            <a:spAutoFit/>
          </a:bodyPr>
          <a:lstStyle/>
          <a:p>
            <a:pPr algn="l"/>
            <a:r>
              <a:rPr sz="1450" b="0" i="0">
                <a:solidFill>
                  <a:srgbClr val="5B6573"/>
                </a:solidFill>
                <a:latin typeface="Calibri"/>
              </a:rPr>
              <a:t>Modules read only the RiskSignal schema via in-process, SQLite or SSE subscribers</a:t>
            </a:r>
          </a:p>
        </p:txBody>
      </p:sp>
      <p:sp>
        <p:nvSpPr>
          <p:cNvPr id="17" name="card4"/>
          <p:cNvSpPr/>
          <p:nvPr/>
        </p:nvSpPr>
        <p:spPr>
          <a:xfrm>
            <a:off x="548640" y="4023360"/>
            <a:ext cx="3520440" cy="2011680"/>
          </a:xfrm>
          <a:prstGeom prst="roundRect">
            <a:avLst>
              <a:gd name="adj" fmla="val 6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rd4-dot"/>
          <p:cNvSpPr/>
          <p:nvPr/>
        </p:nvSpPr>
        <p:spPr>
          <a:xfrm>
            <a:off x="822959" y="4297680"/>
            <a:ext cx="384048" cy="384048"/>
          </a:xfrm>
          <a:prstGeom prst="ellipse">
            <a:avLst/>
          </a:prstGeom>
          <a:solidFill>
            <a:srgbClr val="F2A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p:cNvSpPr txBox="1"/>
          <p:nvPr/>
        </p:nvSpPr>
        <p:spPr>
          <a:xfrm>
            <a:off x="1371600" y="4297680"/>
            <a:ext cx="2560320" cy="411480"/>
          </a:xfrm>
          <a:prstGeom prst="rect">
            <a:avLst/>
          </a:prstGeom>
          <a:noFill/>
        </p:spPr>
        <p:txBody>
          <a:bodyPr wrap="square" lIns="0" rIns="0" tIns="0" bIns="0" anchor="t">
            <a:spAutoFit/>
          </a:bodyPr>
          <a:lstStyle/>
          <a:p>
            <a:pPr algn="l"/>
            <a:r>
              <a:rPr sz="1900" b="1" i="0">
                <a:solidFill>
                  <a:srgbClr val="1B2430"/>
                </a:solidFill>
                <a:latin typeface="Calibri"/>
              </a:rPr>
              <a:t>Module A</a:t>
            </a:r>
          </a:p>
        </p:txBody>
      </p:sp>
      <p:sp>
        <p:nvSpPr>
          <p:cNvPr id="20" name="text"/>
          <p:cNvSpPr txBox="1"/>
          <p:nvPr/>
        </p:nvSpPr>
        <p:spPr>
          <a:xfrm>
            <a:off x="822959" y="4892040"/>
            <a:ext cx="3017520" cy="1097280"/>
          </a:xfrm>
          <a:prstGeom prst="rect">
            <a:avLst/>
          </a:prstGeom>
          <a:noFill/>
        </p:spPr>
        <p:txBody>
          <a:bodyPr wrap="square" lIns="0" rIns="0" tIns="0" bIns="0" anchor="t">
            <a:spAutoFit/>
          </a:bodyPr>
          <a:lstStyle/>
          <a:p>
            <a:pPr algn="l"/>
            <a:r>
              <a:rPr sz="1450" b="0" i="0">
                <a:solidFill>
                  <a:srgbClr val="5B6573"/>
                </a:solidFill>
                <a:latin typeface="Calibri"/>
              </a:rPr>
              <a:t>Sentiment tilt with caps, drift band, turnover cap and costs; hourly no-look-ahead backtest</a:t>
            </a:r>
          </a:p>
        </p:txBody>
      </p:sp>
      <p:sp>
        <p:nvSpPr>
          <p:cNvPr id="21" name="card5"/>
          <p:cNvSpPr/>
          <p:nvPr/>
        </p:nvSpPr>
        <p:spPr>
          <a:xfrm>
            <a:off x="4297679" y="4023360"/>
            <a:ext cx="3520440" cy="2011680"/>
          </a:xfrm>
          <a:prstGeom prst="roundRect">
            <a:avLst>
              <a:gd name="adj" fmla="val 6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5-dot"/>
          <p:cNvSpPr/>
          <p:nvPr/>
        </p:nvSpPr>
        <p:spPr>
          <a:xfrm>
            <a:off x="4571999" y="4297680"/>
            <a:ext cx="384048" cy="384048"/>
          </a:xfrm>
          <a:prstGeom prst="ellipse">
            <a:avLst/>
          </a:prstGeom>
          <a:solidFill>
            <a:srgbClr val="E34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p:cNvSpPr txBox="1"/>
          <p:nvPr/>
        </p:nvSpPr>
        <p:spPr>
          <a:xfrm>
            <a:off x="5120640" y="4297680"/>
            <a:ext cx="2560320" cy="411480"/>
          </a:xfrm>
          <a:prstGeom prst="rect">
            <a:avLst/>
          </a:prstGeom>
          <a:noFill/>
        </p:spPr>
        <p:txBody>
          <a:bodyPr wrap="square" lIns="0" rIns="0" tIns="0" bIns="0" anchor="t">
            <a:spAutoFit/>
          </a:bodyPr>
          <a:lstStyle/>
          <a:p>
            <a:pPr algn="l"/>
            <a:r>
              <a:rPr sz="1900" b="1" i="0">
                <a:solidFill>
                  <a:srgbClr val="1B2430"/>
                </a:solidFill>
                <a:latin typeface="Calibri"/>
              </a:rPr>
              <a:t>Module B</a:t>
            </a:r>
          </a:p>
        </p:txBody>
      </p:sp>
      <p:sp>
        <p:nvSpPr>
          <p:cNvPr id="24" name="text"/>
          <p:cNvSpPr txBox="1"/>
          <p:nvPr/>
        </p:nvSpPr>
        <p:spPr>
          <a:xfrm>
            <a:off x="4571999" y="4892040"/>
            <a:ext cx="3017520" cy="1097280"/>
          </a:xfrm>
          <a:prstGeom prst="rect">
            <a:avLst/>
          </a:prstGeom>
          <a:noFill/>
        </p:spPr>
        <p:txBody>
          <a:bodyPr wrap="square" lIns="0" rIns="0" tIns="0" bIns="0" anchor="t">
            <a:spAutoFit/>
          </a:bodyPr>
          <a:lstStyle/>
          <a:p>
            <a:pPr algn="l"/>
            <a:r>
              <a:rPr sz="1450" b="0" i="0">
                <a:solidFill>
                  <a:srgbClr val="5B6573"/>
                </a:solidFill>
                <a:latin typeface="Calibri"/>
              </a:rPr>
              <a:t>Fires only on reported adverse events; cited scenarios scaled by impact, IFRS 9 staging, Basel CRE20 weights, CET1 proxy</a:t>
            </a:r>
          </a:p>
        </p:txBody>
      </p:sp>
      <p:sp>
        <p:nvSpPr>
          <p:cNvPr id="25" name="card6"/>
          <p:cNvSpPr/>
          <p:nvPr/>
        </p:nvSpPr>
        <p:spPr>
          <a:xfrm>
            <a:off x="8046719" y="4023360"/>
            <a:ext cx="3520440" cy="2011680"/>
          </a:xfrm>
          <a:prstGeom prst="roundRect">
            <a:avLst>
              <a:gd name="adj" fmla="val 6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ard6-dot"/>
          <p:cNvSpPr/>
          <p:nvPr/>
        </p:nvSpPr>
        <p:spPr>
          <a:xfrm>
            <a:off x="8321040" y="4297680"/>
            <a:ext cx="384048" cy="384048"/>
          </a:xfrm>
          <a:prstGeom prst="ellipse">
            <a:avLst/>
          </a:prstGeom>
          <a:solidFill>
            <a:srgbClr val="5B6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8869680" y="4297680"/>
            <a:ext cx="2560320" cy="411480"/>
          </a:xfrm>
          <a:prstGeom prst="rect">
            <a:avLst/>
          </a:prstGeom>
          <a:noFill/>
        </p:spPr>
        <p:txBody>
          <a:bodyPr wrap="square" lIns="0" rIns="0" tIns="0" bIns="0" anchor="t">
            <a:spAutoFit/>
          </a:bodyPr>
          <a:lstStyle/>
          <a:p>
            <a:pPr algn="l"/>
            <a:r>
              <a:rPr sz="1900" b="1" i="0">
                <a:solidFill>
                  <a:srgbClr val="1B2430"/>
                </a:solidFill>
                <a:latin typeface="Calibri"/>
              </a:rPr>
              <a:t>Runs anywhere</a:t>
            </a:r>
          </a:p>
        </p:txBody>
      </p:sp>
      <p:sp>
        <p:nvSpPr>
          <p:cNvPr id="28" name="text"/>
          <p:cNvSpPr txBox="1"/>
          <p:nvPr/>
        </p:nvSpPr>
        <p:spPr>
          <a:xfrm>
            <a:off x="8321040" y="4892040"/>
            <a:ext cx="3017520" cy="1097280"/>
          </a:xfrm>
          <a:prstGeom prst="rect">
            <a:avLst/>
          </a:prstGeom>
          <a:noFill/>
        </p:spPr>
        <p:txBody>
          <a:bodyPr wrap="square" lIns="0" rIns="0" tIns="0" bIns="0" anchor="t">
            <a:spAutoFit/>
          </a:bodyPr>
          <a:lstStyle/>
          <a:p>
            <a:pPr algn="l"/>
            <a:r>
              <a:rPr sz="1450" b="0" i="0">
                <a:solidFill>
                  <a:srgbClr val="5B6573"/>
                </a:solidFill>
                <a:latin typeface="Calibri"/>
              </a:rPr>
              <a:t>Lite tier without torch, offline replay demo, 114 tests, CI on Python 3.11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p:cNvSpPr txBox="1"/>
          <p:nvPr/>
        </p:nvSpPr>
        <p:spPr>
          <a:xfrm>
            <a:off x="548640" y="347472"/>
            <a:ext cx="8229600" cy="320040"/>
          </a:xfrm>
          <a:prstGeom prst="rect">
            <a:avLst/>
          </a:prstGeom>
          <a:noFill/>
        </p:spPr>
        <p:txBody>
          <a:bodyPr wrap="square" lIns="0" rIns="0" tIns="0" bIns="0" anchor="t">
            <a:spAutoFit/>
          </a:bodyPr>
          <a:lstStyle/>
          <a:p>
            <a:pPr algn="l"/>
            <a:r>
              <a:rPr sz="1200" b="1" i="0">
                <a:solidFill>
                  <a:srgbClr val="2A78D6"/>
                </a:solidFill>
                <a:latin typeface="Calibri"/>
              </a:rPr>
              <a:t>05  ·  KEY RESULTS VS NAIVE APPROACHES</a:t>
            </a:r>
          </a:p>
        </p:txBody>
      </p:sp>
      <p:sp>
        <p:nvSpPr>
          <p:cNvPr id="3" name="text"/>
          <p:cNvSpPr txBox="1"/>
          <p:nvPr/>
        </p:nvSpPr>
        <p:spPr>
          <a:xfrm>
            <a:off x="9966960" y="6400800"/>
            <a:ext cx="1737360" cy="274320"/>
          </a:xfrm>
          <a:prstGeom prst="rect">
            <a:avLst/>
          </a:prstGeom>
          <a:noFill/>
        </p:spPr>
        <p:txBody>
          <a:bodyPr wrap="square" lIns="0" rIns="0" tIns="0" bIns="0" anchor="t">
            <a:spAutoFit/>
          </a:bodyPr>
          <a:lstStyle/>
          <a:p>
            <a:pPr algn="r"/>
            <a:r>
              <a:rPr sz="1000" b="0" i="0">
                <a:solidFill>
                  <a:srgbClr val="5B6573"/>
                </a:solidFill>
                <a:latin typeface="Calibri"/>
              </a:rPr>
              <a:t>RiskPulse  ·  5 / 7</a:t>
            </a:r>
          </a:p>
        </p:txBody>
      </p:sp>
      <p:sp>
        <p:nvSpPr>
          <p:cNvPr id="4" name="text"/>
          <p:cNvSpPr txBox="1"/>
          <p:nvPr/>
        </p:nvSpPr>
        <p:spPr>
          <a:xfrm>
            <a:off x="548640" y="777240"/>
            <a:ext cx="10972800" cy="731520"/>
          </a:xfrm>
          <a:prstGeom prst="rect">
            <a:avLst/>
          </a:prstGeom>
          <a:noFill/>
        </p:spPr>
        <p:txBody>
          <a:bodyPr wrap="square" lIns="0" rIns="0" tIns="0" bIns="0" anchor="t">
            <a:spAutoFit/>
          </a:bodyPr>
          <a:lstStyle/>
          <a:p>
            <a:pPr algn="l"/>
            <a:r>
              <a:rPr sz="3400" b="1" i="0">
                <a:solidFill>
                  <a:srgbClr val="1B2430"/>
                </a:solidFill>
                <a:latin typeface="Calibri"/>
              </a:rPr>
              <a:t>Measured against naive baselines on held-out data</a:t>
            </a:r>
          </a:p>
        </p:txBody>
      </p:sp>
      <p:sp>
        <p:nvSpPr>
          <p:cNvPr id="5" name="text"/>
          <p:cNvSpPr txBox="1"/>
          <p:nvPr/>
        </p:nvSpPr>
        <p:spPr>
          <a:xfrm>
            <a:off x="548640" y="1691640"/>
            <a:ext cx="4480560" cy="548640"/>
          </a:xfrm>
          <a:prstGeom prst="rect">
            <a:avLst/>
          </a:prstGeom>
          <a:noFill/>
        </p:spPr>
        <p:txBody>
          <a:bodyPr wrap="square" lIns="0" rIns="0" tIns="0" bIns="0" anchor="t">
            <a:spAutoFit/>
          </a:bodyPr>
          <a:lstStyle/>
          <a:p>
            <a:pPr algn="l"/>
            <a:r>
              <a:rPr sz="3400" b="1" i="0">
                <a:solidFill>
                  <a:srgbClr val="2A78D6"/>
                </a:solidFill>
                <a:latin typeface="Calibri"/>
              </a:rPr>
              <a:t>0.69</a:t>
            </a:r>
            <a:r>
              <a:rPr sz="1600" b="0" i="0">
                <a:solidFill>
                  <a:srgbClr val="5B6573"/>
                </a:solidFill>
                <a:latin typeface="Calibri"/>
              </a:rPr>
              <a:t>  vs 0.46</a:t>
            </a:r>
          </a:p>
        </p:txBody>
      </p:sp>
      <p:sp>
        <p:nvSpPr>
          <p:cNvPr id="6" name="text"/>
          <p:cNvSpPr txBox="1"/>
          <p:nvPr/>
        </p:nvSpPr>
        <p:spPr>
          <a:xfrm>
            <a:off x="548640" y="2258568"/>
            <a:ext cx="4480560" cy="457200"/>
          </a:xfrm>
          <a:prstGeom prst="rect">
            <a:avLst/>
          </a:prstGeom>
          <a:noFill/>
        </p:spPr>
        <p:txBody>
          <a:bodyPr wrap="square" lIns="0" rIns="0" tIns="0" bIns="0" anchor="t">
            <a:spAutoFit/>
          </a:bodyPr>
          <a:lstStyle/>
          <a:p>
            <a:pPr algn="l"/>
            <a:r>
              <a:rPr sz="1300" b="0" i="0">
                <a:solidFill>
                  <a:srgbClr val="5B6573"/>
                </a:solidFill>
                <a:latin typeface="Calibri"/>
              </a:rPr>
              <a:t>sentiment macro-F1, 200 held-out headlines (naive: VADER)</a:t>
            </a:r>
          </a:p>
        </p:txBody>
      </p:sp>
      <p:sp>
        <p:nvSpPr>
          <p:cNvPr id="7" name="text"/>
          <p:cNvSpPr txBox="1"/>
          <p:nvPr/>
        </p:nvSpPr>
        <p:spPr>
          <a:xfrm>
            <a:off x="548640" y="2807208"/>
            <a:ext cx="4480560" cy="548640"/>
          </a:xfrm>
          <a:prstGeom prst="rect">
            <a:avLst/>
          </a:prstGeom>
          <a:noFill/>
        </p:spPr>
        <p:txBody>
          <a:bodyPr wrap="square" lIns="0" rIns="0" tIns="0" bIns="0" anchor="t">
            <a:spAutoFit/>
          </a:bodyPr>
          <a:lstStyle/>
          <a:p>
            <a:pPr algn="l"/>
            <a:r>
              <a:rPr sz="3400" b="1" i="0">
                <a:solidFill>
                  <a:srgbClr val="2A78D6"/>
                </a:solidFill>
                <a:latin typeface="Calibri"/>
              </a:rPr>
              <a:t>0.65</a:t>
            </a:r>
            <a:r>
              <a:rPr sz="1600" b="0" i="0">
                <a:solidFill>
                  <a:srgbClr val="5B6573"/>
                </a:solidFill>
                <a:latin typeface="Calibri"/>
              </a:rPr>
              <a:t>  vs 0.51</a:t>
            </a:r>
          </a:p>
        </p:txBody>
      </p:sp>
      <p:sp>
        <p:nvSpPr>
          <p:cNvPr id="8" name="text"/>
          <p:cNvSpPr txBox="1"/>
          <p:nvPr/>
        </p:nvSpPr>
        <p:spPr>
          <a:xfrm>
            <a:off x="548640" y="3374136"/>
            <a:ext cx="4480560" cy="457200"/>
          </a:xfrm>
          <a:prstGeom prst="rect">
            <a:avLst/>
          </a:prstGeom>
          <a:noFill/>
        </p:spPr>
        <p:txBody>
          <a:bodyPr wrap="square" lIns="0" rIns="0" tIns="0" bIns="0" anchor="t">
            <a:spAutoFit/>
          </a:bodyPr>
          <a:lstStyle/>
          <a:p>
            <a:pPr algn="l"/>
            <a:r>
              <a:rPr sz="1300" b="0" i="0">
                <a:solidFill>
                  <a:srgbClr val="5B6573"/>
                </a:solidFill>
                <a:latin typeface="Calibri"/>
              </a:rPr>
              <a:t>event macro-F1 on the same headlines (naive: keyword rules)</a:t>
            </a:r>
          </a:p>
        </p:txBody>
      </p:sp>
      <p:sp>
        <p:nvSpPr>
          <p:cNvPr id="9" name="text"/>
          <p:cNvSpPr txBox="1"/>
          <p:nvPr/>
        </p:nvSpPr>
        <p:spPr>
          <a:xfrm>
            <a:off x="548640" y="3922776"/>
            <a:ext cx="4480560" cy="548640"/>
          </a:xfrm>
          <a:prstGeom prst="rect">
            <a:avLst/>
          </a:prstGeom>
          <a:noFill/>
        </p:spPr>
        <p:txBody>
          <a:bodyPr wrap="square" lIns="0" rIns="0" tIns="0" bIns="0" anchor="t">
            <a:spAutoFit/>
          </a:bodyPr>
          <a:lstStyle/>
          <a:p>
            <a:pPr algn="l"/>
            <a:r>
              <a:rPr sz="3400" b="1" i="0">
                <a:solidFill>
                  <a:srgbClr val="2A78D6"/>
                </a:solidFill>
                <a:latin typeface="Calibri"/>
              </a:rPr>
              <a:t>1.21×</a:t>
            </a:r>
            <a:r>
              <a:rPr sz="1600" b="0" i="0">
                <a:solidFill>
                  <a:srgbClr val="5B6573"/>
                </a:solidFill>
                <a:latin typeface="Calibri"/>
              </a:rPr>
              <a:t>  vs 0.85×</a:t>
            </a:r>
          </a:p>
        </p:txBody>
      </p:sp>
      <p:sp>
        <p:nvSpPr>
          <p:cNvPr id="10" name="text"/>
          <p:cNvSpPr txBox="1"/>
          <p:nvPr/>
        </p:nvSpPr>
        <p:spPr>
          <a:xfrm>
            <a:off x="548640" y="4489704"/>
            <a:ext cx="4480560" cy="457200"/>
          </a:xfrm>
          <a:prstGeom prst="rect">
            <a:avLst/>
          </a:prstGeom>
          <a:noFill/>
        </p:spPr>
        <p:txBody>
          <a:bodyPr wrap="square" lIns="0" rIns="0" tIns="0" bIns="0" anchor="t">
            <a:spAutoFit/>
          </a:bodyPr>
          <a:lstStyle/>
          <a:p>
            <a:pPr algn="l"/>
            <a:r>
              <a:rPr sz="1300" b="0" i="0">
                <a:solidFill>
                  <a:srgbClr val="5B6573"/>
                </a:solidFill>
                <a:latin typeface="Calibri"/>
              </a:rPr>
              <a:t>S&amp;P 500 move on red-alert days, out of sample (naive: busiest news days)</a:t>
            </a:r>
          </a:p>
        </p:txBody>
      </p:sp>
      <p:sp>
        <p:nvSpPr>
          <p:cNvPr id="11" name="text"/>
          <p:cNvSpPr txBox="1"/>
          <p:nvPr/>
        </p:nvSpPr>
        <p:spPr>
          <a:xfrm>
            <a:off x="548640" y="5038344"/>
            <a:ext cx="4480560" cy="548640"/>
          </a:xfrm>
          <a:prstGeom prst="rect">
            <a:avLst/>
          </a:prstGeom>
          <a:noFill/>
        </p:spPr>
        <p:txBody>
          <a:bodyPr wrap="square" lIns="0" rIns="0" tIns="0" bIns="0" anchor="t">
            <a:spAutoFit/>
          </a:bodyPr>
          <a:lstStyle/>
          <a:p>
            <a:pPr algn="l"/>
            <a:r>
              <a:rPr sz="3400" b="1" i="0">
                <a:solidFill>
                  <a:srgbClr val="2A78D6"/>
                </a:solidFill>
                <a:latin typeface="Calibri"/>
              </a:rPr>
              <a:t>4 / 6</a:t>
            </a:r>
            <a:r>
              <a:rPr sz="1600" b="0" i="0">
                <a:solidFill>
                  <a:srgbClr val="5B6573"/>
                </a:solidFill>
                <a:latin typeface="Calibri"/>
              </a:rPr>
              <a:t>  scenarios</a:t>
            </a:r>
          </a:p>
        </p:txBody>
      </p:sp>
      <p:sp>
        <p:nvSpPr>
          <p:cNvPr id="12" name="text"/>
          <p:cNvSpPr txBox="1"/>
          <p:nvPr/>
        </p:nvSpPr>
        <p:spPr>
          <a:xfrm>
            <a:off x="548640" y="5605272"/>
            <a:ext cx="4480560" cy="457200"/>
          </a:xfrm>
          <a:prstGeom prst="rect">
            <a:avLst/>
          </a:prstGeom>
          <a:noFill/>
        </p:spPr>
        <p:txBody>
          <a:bodyPr wrap="square" lIns="0" rIns="0" tIns="0" bIns="0" anchor="t">
            <a:spAutoFit/>
          </a:bodyPr>
          <a:lstStyle/>
          <a:p>
            <a:pPr algn="l"/>
            <a:r>
              <a:rPr sz="1300" b="0" i="0">
                <a:solidFill>
                  <a:srgbClr val="5B6573"/>
                </a:solidFill>
                <a:latin typeface="Calibri"/>
              </a:rPr>
              <a:t>where a naive static stress test gets the rates P&amp;L sign wrong</a:t>
            </a:r>
          </a:p>
        </p:txBody>
      </p:sp>
      <p:pic>
        <p:nvPicPr>
          <p:cNvPr id="13" name="chart-module-b" descr="eval_module_b.png"/>
          <p:cNvPicPr>
            <a:picLocks noChangeAspect="1"/>
          </p:cNvPicPr>
          <p:nvPr/>
        </p:nvPicPr>
        <p:blipFill>
          <a:blip r:embed="rId2"/>
          <a:stretch>
            <a:fillRect/>
          </a:stretch>
        </p:blipFill>
        <p:spPr>
          <a:xfrm>
            <a:off x="5486400" y="1554480"/>
            <a:ext cx="5897880" cy="3211068"/>
          </a:xfrm>
          <a:prstGeom prst="rect">
            <a:avLst/>
          </a:prstGeom>
        </p:spPr>
      </p:pic>
      <p:sp>
        <p:nvSpPr>
          <p:cNvPr id="14" name="text"/>
          <p:cNvSpPr txBox="1"/>
          <p:nvPr/>
        </p:nvSpPr>
        <p:spPr>
          <a:xfrm>
            <a:off x="5257800" y="4846320"/>
            <a:ext cx="6355080" cy="1463040"/>
          </a:xfrm>
          <a:prstGeom prst="rect">
            <a:avLst/>
          </a:prstGeom>
          <a:noFill/>
        </p:spPr>
        <p:txBody>
          <a:bodyPr wrap="square" lIns="0" rIns="0" tIns="0" bIns="0" anchor="t">
            <a:spAutoFit/>
          </a:bodyPr>
          <a:lstStyle/>
          <a:p>
            <a:pPr algn="l">
              <a:spcAft>
                <a:spcPts val="800"/>
              </a:spcAft>
            </a:pPr>
            <a:r>
              <a:rPr sz="1250" b="1" i="0">
                <a:solidFill>
                  <a:srgbClr val="1B2430"/>
                </a:solidFill>
                <a:latin typeface="Calibri"/>
              </a:rPr>
              <a:t>Headline to stress result: </a:t>
            </a:r>
            <a:r>
              <a:rPr sz="1250" b="0" i="0">
                <a:solidFill>
                  <a:srgbClr val="5B6573"/>
                </a:solidFill>
                <a:latin typeface="Calibri"/>
              </a:rPr>
              <a:t>0.2 s on a laptop CPU, vs an overnight batch run (assumed).</a:t>
            </a:r>
          </a:p>
          <a:p>
            <a:pPr algn="l">
              <a:spcAft>
                <a:spcPts val="800"/>
              </a:spcAft>
            </a:pPr>
            <a:r>
              <a:rPr sz="1250" b="1" i="0">
                <a:solidFill>
                  <a:srgbClr val="1B2430"/>
                </a:solidFill>
                <a:latin typeface="Calibri"/>
              </a:rPr>
              <a:t>Triage: </a:t>
            </a:r>
            <a:r>
              <a:rPr sz="1250" b="0" i="0">
                <a:solidFill>
                  <a:srgbClr val="5B6573"/>
                </a:solidFill>
                <a:latin typeface="Calibri"/>
              </a:rPr>
              <a:t>~84 headlines a day become 1.5 stress tests; the trigger rules cut 70% of high-impact alerts.</a:t>
            </a:r>
          </a:p>
          <a:p>
            <a:pPr algn="l">
              <a:spcAft>
                <a:spcPts val="800"/>
              </a:spcAft>
            </a:pPr>
            <a:r>
              <a:rPr sz="1250" b="1" i="0">
                <a:solidFill>
                  <a:srgbClr val="1B2430"/>
                </a:solidFill>
                <a:latin typeface="Calibri"/>
              </a:rPr>
              <a:t>Honest result: </a:t>
            </a:r>
            <a:r>
              <a:rPr sz="1250" b="0" i="0">
                <a:solidFill>
                  <a:srgbClr val="5B6573"/>
                </a:solidFill>
                <a:latin typeface="Calibri"/>
              </a:rPr>
              <a:t>with strict timing, sentiment tilts show no next-day edge (IC -0.004); an early IR of 3.7 was a look-ahead leak we traced and fixed.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p:cNvSpPr txBox="1"/>
          <p:nvPr/>
        </p:nvSpPr>
        <p:spPr>
          <a:xfrm>
            <a:off x="548640" y="347472"/>
            <a:ext cx="8229600" cy="320040"/>
          </a:xfrm>
          <a:prstGeom prst="rect">
            <a:avLst/>
          </a:prstGeom>
          <a:noFill/>
        </p:spPr>
        <p:txBody>
          <a:bodyPr wrap="square" lIns="0" rIns="0" tIns="0" bIns="0" anchor="t">
            <a:spAutoFit/>
          </a:bodyPr>
          <a:lstStyle/>
          <a:p>
            <a:pPr algn="l"/>
            <a:r>
              <a:rPr sz="1200" b="1" i="0">
                <a:solidFill>
                  <a:srgbClr val="2A78D6"/>
                </a:solidFill>
                <a:latin typeface="Calibri"/>
              </a:rPr>
              <a:t>06  ·  DOMAIN IMPACT</a:t>
            </a:r>
          </a:p>
        </p:txBody>
      </p:sp>
      <p:sp>
        <p:nvSpPr>
          <p:cNvPr id="3" name="text"/>
          <p:cNvSpPr txBox="1"/>
          <p:nvPr/>
        </p:nvSpPr>
        <p:spPr>
          <a:xfrm>
            <a:off x="9966960" y="6400800"/>
            <a:ext cx="1737360" cy="274320"/>
          </a:xfrm>
          <a:prstGeom prst="rect">
            <a:avLst/>
          </a:prstGeom>
          <a:noFill/>
        </p:spPr>
        <p:txBody>
          <a:bodyPr wrap="square" lIns="0" rIns="0" tIns="0" bIns="0" anchor="t">
            <a:spAutoFit/>
          </a:bodyPr>
          <a:lstStyle/>
          <a:p>
            <a:pPr algn="r"/>
            <a:r>
              <a:rPr sz="1000" b="0" i="0">
                <a:solidFill>
                  <a:srgbClr val="5B6573"/>
                </a:solidFill>
                <a:latin typeface="Calibri"/>
              </a:rPr>
              <a:t>RiskPulse  ·  6 / 7</a:t>
            </a:r>
          </a:p>
        </p:txBody>
      </p:sp>
      <p:sp>
        <p:nvSpPr>
          <p:cNvPr id="4" name="text"/>
          <p:cNvSpPr txBox="1"/>
          <p:nvPr/>
        </p:nvSpPr>
        <p:spPr>
          <a:xfrm>
            <a:off x="548640" y="777240"/>
            <a:ext cx="10972800" cy="731520"/>
          </a:xfrm>
          <a:prstGeom prst="rect">
            <a:avLst/>
          </a:prstGeom>
          <a:noFill/>
        </p:spPr>
        <p:txBody>
          <a:bodyPr wrap="square" lIns="0" rIns="0" tIns="0" bIns="0" anchor="t">
            <a:spAutoFit/>
          </a:bodyPr>
          <a:lstStyle/>
          <a:p>
            <a:pPr algn="l"/>
            <a:r>
              <a:rPr sz="3400" b="1" i="0">
                <a:solidFill>
                  <a:srgbClr val="1B2430"/>
                </a:solidFill>
                <a:latin typeface="Calibri"/>
              </a:rPr>
              <a:t>From headline to capital impact in seconds</a:t>
            </a:r>
          </a:p>
        </p:txBody>
      </p:sp>
      <p:sp>
        <p:nvSpPr>
          <p:cNvPr id="5" name="impact1-dot"/>
          <p:cNvSpPr/>
          <p:nvPr/>
        </p:nvSpPr>
        <p:spPr>
          <a:xfrm>
            <a:off x="548640" y="1645920"/>
            <a:ext cx="347472" cy="347472"/>
          </a:xfrm>
          <a:prstGeom prst="ellipse">
            <a:avLst/>
          </a:prstGeom>
          <a:solidFill>
            <a:srgbClr val="E34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p:cNvSpPr txBox="1"/>
          <p:nvPr/>
        </p:nvSpPr>
        <p:spPr>
          <a:xfrm>
            <a:off x="1051560" y="1627632"/>
            <a:ext cx="3108960" cy="411480"/>
          </a:xfrm>
          <a:prstGeom prst="rect">
            <a:avLst/>
          </a:prstGeom>
          <a:noFill/>
        </p:spPr>
        <p:txBody>
          <a:bodyPr wrap="square" lIns="0" rIns="0" tIns="0" bIns="0" anchor="t">
            <a:spAutoFit/>
          </a:bodyPr>
          <a:lstStyle/>
          <a:p>
            <a:pPr algn="l"/>
            <a:r>
              <a:rPr sz="1800" b="1" i="0">
                <a:solidFill>
                  <a:srgbClr val="1B2430"/>
                </a:solidFill>
                <a:latin typeface="Calibri"/>
              </a:rPr>
              <a:t>Risk managers</a:t>
            </a:r>
          </a:p>
        </p:txBody>
      </p:sp>
      <p:sp>
        <p:nvSpPr>
          <p:cNvPr id="7" name="text"/>
          <p:cNvSpPr txBox="1"/>
          <p:nvPr/>
        </p:nvSpPr>
        <p:spPr>
          <a:xfrm>
            <a:off x="1051560" y="2057400"/>
            <a:ext cx="3154680" cy="1188720"/>
          </a:xfrm>
          <a:prstGeom prst="rect">
            <a:avLst/>
          </a:prstGeom>
          <a:noFill/>
        </p:spPr>
        <p:txBody>
          <a:bodyPr wrap="square" lIns="0" rIns="0" tIns="0" bIns="0" anchor="t">
            <a:spAutoFit/>
          </a:bodyPr>
          <a:lstStyle/>
          <a:p>
            <a:pPr algn="l"/>
            <a:r>
              <a:rPr sz="1350" b="0" i="0">
                <a:solidFill>
                  <a:srgbClr val="5B6573"/>
                </a:solidFill>
                <a:latin typeface="Calibri"/>
              </a:rPr>
              <a:t>The right stress test runs when an adverse event is reported (not on commentary), with CET1 headroom and the positions that drive the loss</a:t>
            </a:r>
          </a:p>
        </p:txBody>
      </p:sp>
      <p:sp>
        <p:nvSpPr>
          <p:cNvPr id="8" name="impact2-dot"/>
          <p:cNvSpPr/>
          <p:nvPr/>
        </p:nvSpPr>
        <p:spPr>
          <a:xfrm>
            <a:off x="4343400" y="1645920"/>
            <a:ext cx="347472" cy="347472"/>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p:cNvSpPr txBox="1"/>
          <p:nvPr/>
        </p:nvSpPr>
        <p:spPr>
          <a:xfrm>
            <a:off x="4846320" y="1627632"/>
            <a:ext cx="3108960" cy="411480"/>
          </a:xfrm>
          <a:prstGeom prst="rect">
            <a:avLst/>
          </a:prstGeom>
          <a:noFill/>
        </p:spPr>
        <p:txBody>
          <a:bodyPr wrap="square" lIns="0" rIns="0" tIns="0" bIns="0" anchor="t">
            <a:spAutoFit/>
          </a:bodyPr>
          <a:lstStyle/>
          <a:p>
            <a:pPr algn="l"/>
            <a:r>
              <a:rPr sz="1800" b="1" i="0">
                <a:solidFill>
                  <a:srgbClr val="1B2430"/>
                </a:solidFill>
                <a:latin typeface="Calibri"/>
              </a:rPr>
              <a:t>Portfolio managers</a:t>
            </a:r>
          </a:p>
        </p:txBody>
      </p:sp>
      <p:sp>
        <p:nvSpPr>
          <p:cNvPr id="10" name="text"/>
          <p:cNvSpPr txBox="1"/>
          <p:nvPr/>
        </p:nvSpPr>
        <p:spPr>
          <a:xfrm>
            <a:off x="4846320" y="2057400"/>
            <a:ext cx="3154680" cy="1188720"/>
          </a:xfrm>
          <a:prstGeom prst="rect">
            <a:avLst/>
          </a:prstGeom>
          <a:noFill/>
        </p:spPr>
        <p:txBody>
          <a:bodyPr wrap="square" lIns="0" rIns="0" tIns="0" bIns="0" anchor="t">
            <a:spAutoFit/>
          </a:bodyPr>
          <a:lstStyle/>
          <a:p>
            <a:pPr algn="l"/>
            <a:r>
              <a:rPr sz="1350" b="0" i="0">
                <a:solidFill>
                  <a:srgbClr val="5B6573"/>
                </a:solidFill>
                <a:latin typeface="Calibri"/>
              </a:rPr>
              <a:t>Index tilts react to company news within limits, every change linked to its headline</a:t>
            </a:r>
          </a:p>
        </p:txBody>
      </p:sp>
      <p:sp>
        <p:nvSpPr>
          <p:cNvPr id="11" name="impact3-dot"/>
          <p:cNvSpPr/>
          <p:nvPr/>
        </p:nvSpPr>
        <p:spPr>
          <a:xfrm>
            <a:off x="8138160" y="1645920"/>
            <a:ext cx="347472" cy="347472"/>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cNvSpPr txBox="1"/>
          <p:nvPr/>
        </p:nvSpPr>
        <p:spPr>
          <a:xfrm>
            <a:off x="8641080" y="1627632"/>
            <a:ext cx="3108960" cy="411480"/>
          </a:xfrm>
          <a:prstGeom prst="rect">
            <a:avLst/>
          </a:prstGeom>
          <a:noFill/>
        </p:spPr>
        <p:txBody>
          <a:bodyPr wrap="square" lIns="0" rIns="0" tIns="0" bIns="0" anchor="t">
            <a:spAutoFit/>
          </a:bodyPr>
          <a:lstStyle/>
          <a:p>
            <a:pPr algn="l"/>
            <a:r>
              <a:rPr sz="1800" b="1" i="0">
                <a:solidFill>
                  <a:srgbClr val="1B2430"/>
                </a:solidFill>
                <a:latin typeface="Calibri"/>
              </a:rPr>
              <a:t>Model risk &amp; audit</a:t>
            </a:r>
          </a:p>
        </p:txBody>
      </p:sp>
      <p:sp>
        <p:nvSpPr>
          <p:cNvPr id="13" name="text"/>
          <p:cNvSpPr txBox="1"/>
          <p:nvPr/>
        </p:nvSpPr>
        <p:spPr>
          <a:xfrm>
            <a:off x="8641080" y="2057400"/>
            <a:ext cx="3154680" cy="1188720"/>
          </a:xfrm>
          <a:prstGeom prst="rect">
            <a:avLst/>
          </a:prstGeom>
          <a:noFill/>
        </p:spPr>
        <p:txBody>
          <a:bodyPr wrap="square" lIns="0" rIns="0" tIns="0" bIns="0" anchor="t">
            <a:spAutoFit/>
          </a:bodyPr>
          <a:lstStyle/>
          <a:p>
            <a:pPr algn="l"/>
            <a:r>
              <a:rPr sz="1350" b="0" i="0">
                <a:solidFill>
                  <a:srgbClr val="5B6573"/>
                </a:solidFill>
                <a:latin typeface="Calibri"/>
              </a:rPr>
              <a:t>Every score carries its drivers, schema and model version; results are reproducible from the repo</a:t>
            </a:r>
          </a:p>
        </p:txBody>
      </p:sp>
      <p:sp>
        <p:nvSpPr>
          <p:cNvPr id="14" name="screenshot-frame"/>
          <p:cNvSpPr/>
          <p:nvPr/>
        </p:nvSpPr>
        <p:spPr>
          <a:xfrm>
            <a:off x="1384237" y="3291840"/>
            <a:ext cx="9423220" cy="2734056"/>
          </a:xfrm>
          <a:prstGeom prst="roundRect">
            <a:avLst>
              <a:gd name="adj" fmla="val 6000"/>
            </a:avLst>
          </a:prstGeom>
          <a:solidFill>
            <a:srgbClr val="F3F6FA"/>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dashboard-module-b" descr="dashboard_module_B_strip.png"/>
          <p:cNvPicPr>
            <a:picLocks noChangeAspect="1"/>
          </p:cNvPicPr>
          <p:nvPr/>
        </p:nvPicPr>
        <p:blipFill>
          <a:blip r:embed="rId2"/>
          <a:stretch>
            <a:fillRect/>
          </a:stretch>
        </p:blipFill>
        <p:spPr>
          <a:xfrm>
            <a:off x="1493965" y="3401568"/>
            <a:ext cx="9203765" cy="2514600"/>
          </a:xfrm>
          <a:prstGeom prst="rect">
            <a:avLst/>
          </a:prstGeom>
        </p:spPr>
      </p:pic>
      <p:sp>
        <p:nvSpPr>
          <p:cNvPr id="16" name="text"/>
          <p:cNvSpPr txBox="1"/>
          <p:nvPr/>
        </p:nvSpPr>
        <p:spPr>
          <a:xfrm>
            <a:off x="1493965" y="6117336"/>
            <a:ext cx="9203764" cy="274320"/>
          </a:xfrm>
          <a:prstGeom prst="rect">
            <a:avLst/>
          </a:prstGeom>
          <a:noFill/>
        </p:spPr>
        <p:txBody>
          <a:bodyPr wrap="square" lIns="0" rIns="0" tIns="0" bIns="0" anchor="t">
            <a:spAutoFit/>
          </a:bodyPr>
          <a:lstStyle/>
          <a:p>
            <a:pPr algn="l"/>
            <a:r>
              <a:rPr sz="1200" b="0" i="1">
                <a:solidFill>
                  <a:srgbClr val="5B6573"/>
                </a:solidFill>
                <a:latin typeface="Calibri"/>
              </a:rPr>
              <a:t>Module B in the dashboard: the triggering headline, the scenario applied, value before and after, and the capital check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
          <p:cNvSpPr txBox="1"/>
          <p:nvPr/>
        </p:nvSpPr>
        <p:spPr>
          <a:xfrm>
            <a:off x="548640" y="347472"/>
            <a:ext cx="8229600" cy="320040"/>
          </a:xfrm>
          <a:prstGeom prst="rect">
            <a:avLst/>
          </a:prstGeom>
          <a:noFill/>
        </p:spPr>
        <p:txBody>
          <a:bodyPr wrap="square" lIns="0" rIns="0" tIns="0" bIns="0" anchor="t">
            <a:spAutoFit/>
          </a:bodyPr>
          <a:lstStyle/>
          <a:p>
            <a:pPr algn="l"/>
            <a:r>
              <a:rPr sz="1200" b="1" i="0">
                <a:solidFill>
                  <a:srgbClr val="F2A541"/>
                </a:solidFill>
                <a:latin typeface="Calibri"/>
              </a:rPr>
              <a:t>07  ·  CHALLENGES, LIMITATIONS &amp; NEXT STEPS</a:t>
            </a:r>
          </a:p>
        </p:txBody>
      </p:sp>
      <p:sp>
        <p:nvSpPr>
          <p:cNvPr id="3" name="text"/>
          <p:cNvSpPr txBox="1"/>
          <p:nvPr/>
        </p:nvSpPr>
        <p:spPr>
          <a:xfrm>
            <a:off x="9966960" y="6400800"/>
            <a:ext cx="1737360" cy="274320"/>
          </a:xfrm>
          <a:prstGeom prst="rect">
            <a:avLst/>
          </a:prstGeom>
          <a:noFill/>
        </p:spPr>
        <p:txBody>
          <a:bodyPr wrap="square" lIns="0" rIns="0" tIns="0" bIns="0" anchor="t">
            <a:spAutoFit/>
          </a:bodyPr>
          <a:lstStyle/>
          <a:p>
            <a:pPr algn="r"/>
            <a:r>
              <a:rPr sz="1000" b="0" i="0">
                <a:solidFill>
                  <a:srgbClr val="8A97A8"/>
                </a:solidFill>
                <a:latin typeface="Calibri"/>
              </a:rPr>
              <a:t>RiskPulse  ·  7 / 7</a:t>
            </a:r>
          </a:p>
        </p:txBody>
      </p:sp>
      <p:sp>
        <p:nvSpPr>
          <p:cNvPr id="4" name="text"/>
          <p:cNvSpPr txBox="1"/>
          <p:nvPr/>
        </p:nvSpPr>
        <p:spPr>
          <a:xfrm>
            <a:off x="548640" y="777240"/>
            <a:ext cx="11155680" cy="731520"/>
          </a:xfrm>
          <a:prstGeom prst="rect">
            <a:avLst/>
          </a:prstGeom>
          <a:noFill/>
        </p:spPr>
        <p:txBody>
          <a:bodyPr wrap="square" lIns="0" rIns="0" tIns="0" bIns="0" anchor="t">
            <a:spAutoFit/>
          </a:bodyPr>
          <a:lstStyle/>
          <a:p>
            <a:pPr algn="l"/>
            <a:r>
              <a:rPr sz="3200" b="1" i="0">
                <a:solidFill>
                  <a:srgbClr val="FFFFFF"/>
                </a:solidFill>
                <a:latin typeface="Calibri"/>
              </a:rPr>
              <a:t>What was hard, what is missing, what comes next</a:t>
            </a:r>
          </a:p>
        </p:txBody>
      </p:sp>
      <p:sp>
        <p:nvSpPr>
          <p:cNvPr id="5" name="text"/>
          <p:cNvSpPr txBox="1"/>
          <p:nvPr/>
        </p:nvSpPr>
        <p:spPr>
          <a:xfrm>
            <a:off x="548640" y="1737360"/>
            <a:ext cx="3520440" cy="3200400"/>
          </a:xfrm>
          <a:prstGeom prst="rect">
            <a:avLst/>
          </a:prstGeom>
          <a:noFill/>
        </p:spPr>
        <p:txBody>
          <a:bodyPr wrap="square" lIns="0" rIns="0" tIns="0" bIns="0" anchor="t">
            <a:spAutoFit/>
          </a:bodyPr>
          <a:lstStyle/>
          <a:p>
            <a:pPr algn="l">
              <a:spcAft>
                <a:spcPts val="800"/>
              </a:spcAft>
            </a:pPr>
            <a:r>
              <a:rPr sz="1800" b="1" i="0">
                <a:solidFill>
                  <a:srgbClr val="F2A541"/>
                </a:solidFill>
                <a:latin typeface="Calibri"/>
              </a:rPr>
              <a:t>Challenges we solved</a:t>
            </a:r>
          </a:p>
          <a:p>
            <a:pPr algn="l">
              <a:spcAft>
                <a:spcPts val="800"/>
              </a:spcAft>
            </a:pPr>
            <a:r>
              <a:rPr sz="1400" b="0" i="0">
                <a:solidFill>
                  <a:srgbClr val="C9D3E0"/>
                </a:solidFill>
                <a:latin typeface="Calibri"/>
              </a:rPr>
              <a:t>A backtest information ratio of 3.7 was a look-ahead leak: traced and fixed</a:t>
            </a:r>
          </a:p>
          <a:p>
            <a:pPr algn="l">
              <a:spcAft>
                <a:spcPts val="800"/>
              </a:spcAft>
            </a:pPr>
            <a:r>
              <a:rPr sz="1400" b="0" i="0">
                <a:solidFill>
                  <a:srgbClr val="C9D3E0"/>
                </a:solidFill>
                <a:latin typeface="Calibri"/>
              </a:rPr>
              <a:t>97% of 61,399 headlines carry a date, not a time: used only after the day ends</a:t>
            </a:r>
          </a:p>
          <a:p>
            <a:pPr algn="l">
              <a:spcAft>
                <a:spcPts val="800"/>
              </a:spcAft>
            </a:pPr>
            <a:r>
              <a:rPr sz="1400" b="0" i="0">
                <a:solidFill>
                  <a:srgbClr val="C9D3E0"/>
                </a:solidFill>
                <a:latin typeface="Calibri"/>
              </a:rPr>
              <a:t>Questions and opinion pieces fired stress tests: now filtered (29 skipped in the replay)</a:t>
            </a:r>
          </a:p>
          <a:p>
            <a:pPr algn="l">
              <a:spcAft>
                <a:spcPts val="800"/>
              </a:spcAft>
            </a:pPr>
            <a:r>
              <a:rPr sz="1400" b="0" i="0">
                <a:solidFill>
                  <a:srgbClr val="C9D3E0"/>
                </a:solidFill>
                <a:latin typeface="Calibri"/>
              </a:rPr>
              <a:t>The stress trigger ran on 90% of trading days: added a red-alert tier, tested out of sample</a:t>
            </a:r>
          </a:p>
        </p:txBody>
      </p:sp>
      <p:sp>
        <p:nvSpPr>
          <p:cNvPr id="6" name="text"/>
          <p:cNvSpPr txBox="1"/>
          <p:nvPr/>
        </p:nvSpPr>
        <p:spPr>
          <a:xfrm>
            <a:off x="4343400" y="1737360"/>
            <a:ext cx="3520440" cy="3200400"/>
          </a:xfrm>
          <a:prstGeom prst="rect">
            <a:avLst/>
          </a:prstGeom>
          <a:noFill/>
        </p:spPr>
        <p:txBody>
          <a:bodyPr wrap="square" lIns="0" rIns="0" tIns="0" bIns="0" anchor="t">
            <a:spAutoFit/>
          </a:bodyPr>
          <a:lstStyle/>
          <a:p>
            <a:pPr algn="l">
              <a:spcAft>
                <a:spcPts val="800"/>
              </a:spcAft>
            </a:pPr>
            <a:r>
              <a:rPr sz="1800" b="1" i="0">
                <a:solidFill>
                  <a:srgbClr val="F2A541"/>
                </a:solidFill>
                <a:latin typeface="Calibri"/>
              </a:rPr>
              <a:t>Limitations</a:t>
            </a:r>
          </a:p>
          <a:p>
            <a:pPr algn="l">
              <a:spcAft>
                <a:spcPts val="800"/>
              </a:spcAft>
            </a:pPr>
            <a:r>
              <a:rPr sz="1400" b="0" i="0">
                <a:solidFill>
                  <a:srgbClr val="C9D3E0"/>
                </a:solidFill>
                <a:latin typeface="Calibri"/>
              </a:rPr>
              <a:t>Day-level history, so fast intraday reactions are untested</a:t>
            </a:r>
          </a:p>
          <a:p>
            <a:pPr algn="l">
              <a:spcAft>
                <a:spcPts val="800"/>
              </a:spcAft>
            </a:pPr>
            <a:r>
              <a:rPr sz="1400" b="0" i="0">
                <a:solidFill>
                  <a:srgbClr val="C9D3E0"/>
                </a:solidFill>
                <a:latin typeface="Calibri"/>
              </a:rPr>
              <a:t>16 mega-cap names and two years of data</a:t>
            </a:r>
          </a:p>
          <a:p>
            <a:pPr algn="l">
              <a:spcAft>
                <a:spcPts val="800"/>
              </a:spcAft>
            </a:pPr>
            <a:r>
              <a:rPr sz="1400" b="0" i="0">
                <a:solidFill>
                  <a:srgbClr val="C9D3E0"/>
                </a:solidFill>
                <a:latin typeface="Calibri"/>
              </a:rPr>
              <a:t>Gold labels from one annotator (AI-proposed, author-reviewed)</a:t>
            </a:r>
          </a:p>
          <a:p>
            <a:pPr algn="l">
              <a:spcAft>
                <a:spcPts val="800"/>
              </a:spcAft>
            </a:pPr>
            <a:r>
              <a:rPr sz="1400" b="0" i="0">
                <a:solidFill>
                  <a:srgbClr val="C9D3E0"/>
                </a:solidFill>
                <a:latin typeface="Calibri"/>
              </a:rPr>
              <a:t>Sensitivity-based revaluation; simplified CET1 proxy</a:t>
            </a:r>
          </a:p>
        </p:txBody>
      </p:sp>
      <p:sp>
        <p:nvSpPr>
          <p:cNvPr id="7" name="text"/>
          <p:cNvSpPr txBox="1"/>
          <p:nvPr/>
        </p:nvSpPr>
        <p:spPr>
          <a:xfrm>
            <a:off x="8138160" y="1737360"/>
            <a:ext cx="3520440" cy="3200400"/>
          </a:xfrm>
          <a:prstGeom prst="rect">
            <a:avLst/>
          </a:prstGeom>
          <a:noFill/>
        </p:spPr>
        <p:txBody>
          <a:bodyPr wrap="square" lIns="0" rIns="0" tIns="0" bIns="0" anchor="t">
            <a:spAutoFit/>
          </a:bodyPr>
          <a:lstStyle/>
          <a:p>
            <a:pPr algn="l">
              <a:spcAft>
                <a:spcPts val="800"/>
              </a:spcAft>
            </a:pPr>
            <a:r>
              <a:rPr sz="1800" b="1" i="0">
                <a:solidFill>
                  <a:srgbClr val="F2A541"/>
                </a:solidFill>
                <a:latin typeface="Calibri"/>
              </a:rPr>
              <a:t>Next steps</a:t>
            </a:r>
          </a:p>
          <a:p>
            <a:pPr algn="l">
              <a:spcAft>
                <a:spcPts val="800"/>
              </a:spcAft>
            </a:pPr>
            <a:r>
              <a:rPr sz="1400" b="0" i="0">
                <a:solidFill>
                  <a:srgbClr val="C9D3E0"/>
                </a:solidFill>
                <a:latin typeface="Calibri"/>
              </a:rPr>
              <a:t>Intraday timestamped feeds to test fast reactions</a:t>
            </a:r>
          </a:p>
          <a:p>
            <a:pPr algn="l">
              <a:spcAft>
                <a:spcPts val="800"/>
              </a:spcAft>
            </a:pPr>
            <a:r>
              <a:rPr sz="1400" b="0" i="0">
                <a:solidFill>
                  <a:srgbClr val="C9D3E0"/>
                </a:solidFill>
                <a:latin typeface="Calibri"/>
              </a:rPr>
              <a:t>Multilingual sources and target-aware sentiment</a:t>
            </a:r>
          </a:p>
          <a:p>
            <a:pPr algn="l">
              <a:spcAft>
                <a:spcPts val="800"/>
              </a:spcAft>
            </a:pPr>
            <a:r>
              <a:rPr sz="1400" b="0" i="0">
                <a:solidFill>
                  <a:srgbClr val="C9D3E0"/>
                </a:solidFill>
                <a:latin typeface="Calibri"/>
              </a:rPr>
              <a:t>Kafka bus, feature store, model registry</a:t>
            </a:r>
          </a:p>
          <a:p>
            <a:pPr algn="l">
              <a:spcAft>
                <a:spcPts val="800"/>
              </a:spcAft>
            </a:pPr>
            <a:r>
              <a:rPr sz="1400" b="0" i="0">
                <a:solidFill>
                  <a:srgbClr val="C9D3E0"/>
                </a:solidFill>
                <a:latin typeface="Calibri"/>
              </a:rPr>
              <a:t>Full revaluation library and regulatory scenarios</a:t>
            </a:r>
          </a:p>
        </p:txBody>
      </p:sp>
      <p:sp>
        <p:nvSpPr>
          <p:cNvPr id="8" name="pulse"/>
          <p:cNvSpPr/>
          <p:nvPr/>
        </p:nvSpPr>
        <p:spPr>
          <a:xfrm>
            <a:off x="548640" y="5150357"/>
            <a:ext cx="11064240" cy="534924"/>
          </a:xfrm>
          <a:custGeom>
            <a:avLst/>
            <a:gdLst/>
            <a:ahLst/>
            <a:cxnLst/>
            <a:rect l="l" t="t" r="r" b="b"/>
            <a:pathLst>
              <a:path w="11064240" h="534924">
                <a:moveTo>
                  <a:pt x="0" y="267463"/>
                </a:moveTo>
                <a:lnTo>
                  <a:pt x="3319271" y="267463"/>
                </a:lnTo>
                <a:lnTo>
                  <a:pt x="3983126" y="178309"/>
                </a:lnTo>
                <a:lnTo>
                  <a:pt x="4646980" y="267463"/>
                </a:lnTo>
                <a:lnTo>
                  <a:pt x="5310835" y="267463"/>
                </a:lnTo>
                <a:lnTo>
                  <a:pt x="5753404" y="0"/>
                </a:lnTo>
                <a:lnTo>
                  <a:pt x="6306616" y="534924"/>
                </a:lnTo>
                <a:lnTo>
                  <a:pt x="6859828" y="267463"/>
                </a:lnTo>
                <a:lnTo>
                  <a:pt x="7744967" y="267463"/>
                </a:lnTo>
                <a:lnTo>
                  <a:pt x="8187537" y="196139"/>
                </a:lnTo>
                <a:lnTo>
                  <a:pt x="8630107" y="267463"/>
                </a:lnTo>
                <a:lnTo>
                  <a:pt x="11064240" y="267463"/>
                </a:lnTo>
              </a:path>
            </a:pathLst>
          </a:custGeom>
          <a:noFill/>
          <a:ln w="28575">
            <a:solidFill>
              <a:srgbClr val="F2A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p:cNvSpPr txBox="1"/>
          <p:nvPr/>
        </p:nvSpPr>
        <p:spPr>
          <a:xfrm>
            <a:off x="548640" y="5897880"/>
            <a:ext cx="10972800" cy="365760"/>
          </a:xfrm>
          <a:prstGeom prst="rect">
            <a:avLst/>
          </a:prstGeom>
          <a:noFill/>
        </p:spPr>
        <p:txBody>
          <a:bodyPr wrap="square" lIns="0" rIns="0" tIns="0" bIns="0" anchor="t">
            <a:spAutoFit/>
          </a:bodyPr>
          <a:lstStyle/>
          <a:p>
            <a:pPr algn="l"/>
            <a:r>
              <a:rPr sz="1300" b="0" i="0">
                <a:solidFill>
                  <a:srgbClr val="8A97A8"/>
                </a:solidFill>
                <a:latin typeface="Calibri"/>
              </a:rPr>
              <a:t>Open source (MIT) · public and synthetic data only · github repo and demo video in the README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